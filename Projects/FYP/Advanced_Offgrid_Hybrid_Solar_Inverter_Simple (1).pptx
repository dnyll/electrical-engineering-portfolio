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648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95145A-F2E4-46E2-AAEF-69ED6F9A2F7F}" type="datetimeFigureOut">
              <a:rPr lang="en-US" smtClean="0"/>
              <a:t>10/21/2025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B8A6E0-0DF2-48FE-9440-CE5A8B84CC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3838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9B8A6E0-0DF2-48FE-9440-CE5A8B84CCC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955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654" y="1447801"/>
            <a:ext cx="8823360" cy="3329581"/>
          </a:xfrm>
        </p:spPr>
        <p:txBody>
          <a:bodyPr anchor="b"/>
          <a:lstStyle>
            <a:lvl1pPr>
              <a:defRPr sz="71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654" y="4777380"/>
            <a:ext cx="8823360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1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25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31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3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4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50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478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182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2861734"/>
            <a:ext cx="8823359" cy="1915647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0" cy="860400"/>
          </a:xfrm>
        </p:spPr>
        <p:txBody>
          <a:bodyPr anchor="t"/>
          <a:lstStyle>
            <a:lvl1pPr marL="0" indent="0" algn="l">
              <a:buNone/>
              <a:defRPr sz="1999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95695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025" y="2060576"/>
            <a:ext cx="4395194" cy="4195763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3021" y="2056093"/>
            <a:ext cx="4395196" cy="4200245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2172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6" y="1905000"/>
            <a:ext cx="4395193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025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3023" y="1905000"/>
            <a:ext cx="439519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3023" y="2514600"/>
            <a:ext cx="4395194" cy="3741738"/>
          </a:xfrm>
        </p:spPr>
        <p:txBody>
          <a:bodyPr>
            <a:normAutofit/>
          </a:bodyPr>
          <a:lstStyle>
            <a:lvl1pPr>
              <a:defRPr sz="1799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233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830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1652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2" y="1447800"/>
            <a:ext cx="3400178" cy="1447800"/>
          </a:xfrm>
        </p:spPr>
        <p:txBody>
          <a:bodyPr anchor="b"/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370" y="1447800"/>
            <a:ext cx="5194644" cy="4572000"/>
          </a:xfrm>
        </p:spPr>
        <p:txBody>
          <a:bodyPr anchor="ctr">
            <a:normAutofit/>
          </a:bodyPr>
          <a:lstStyle>
            <a:lvl1pPr>
              <a:defRPr sz="1999"/>
            </a:lvl1pPr>
            <a:lvl2pPr>
              <a:defRPr sz="1799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3" y="3129281"/>
            <a:ext cx="3400177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37949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606" y="1854192"/>
            <a:ext cx="5091580" cy="1574808"/>
          </a:xfrm>
        </p:spPr>
        <p:txBody>
          <a:bodyPr anchor="b">
            <a:normAutofit/>
          </a:bodyPr>
          <a:lstStyle>
            <a:lvl1pPr algn="l">
              <a:defRPr sz="35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7736" y="1143000"/>
            <a:ext cx="3199567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5083655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0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6" y="4800587"/>
            <a:ext cx="8823359" cy="566738"/>
          </a:xfrm>
        </p:spPr>
        <p:txBody>
          <a:bodyPr anchor="b">
            <a:normAutofit/>
          </a:bodyPr>
          <a:lstStyle>
            <a:lvl1pPr algn="l">
              <a:defRPr sz="2399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654" y="685800"/>
            <a:ext cx="8823360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5" y="5367325"/>
            <a:ext cx="8823358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8249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4" y="1447800"/>
            <a:ext cx="8823361" cy="1981200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3657600"/>
            <a:ext cx="8823361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5628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391" y="1447800"/>
            <a:ext cx="7997232" cy="2323374"/>
          </a:xfrm>
        </p:spPr>
        <p:txBody>
          <a:bodyPr/>
          <a:lstStyle>
            <a:lvl1pPr>
              <a:defRPr sz="47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29898" y="3771174"/>
            <a:ext cx="7277753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654" y="4350657"/>
            <a:ext cx="8823361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799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061" y="971253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8060" y="2613787"/>
            <a:ext cx="801703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196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829481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653" y="3124201"/>
            <a:ext cx="8823362" cy="1653180"/>
          </a:xfrm>
        </p:spPr>
        <p:txBody>
          <a:bodyPr anchor="b"/>
          <a:lstStyle>
            <a:lvl1pPr algn="l">
              <a:defRPr sz="3999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654" y="4777381"/>
            <a:ext cx="8823361" cy="860400"/>
          </a:xfrm>
        </p:spPr>
        <p:txBody>
          <a:bodyPr anchor="t"/>
          <a:lstStyle>
            <a:lvl1pPr marL="0" indent="0" algn="l">
              <a:buNone/>
              <a:defRPr sz="1999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799">
                <a:solidFill>
                  <a:schemeClr val="tx1">
                    <a:tint val="75000"/>
                  </a:schemeClr>
                </a:solidFill>
              </a:defRPr>
            </a:lvl2pPr>
            <a:lvl3pPr marL="91412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8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251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31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377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44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50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703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782" y="1981200"/>
            <a:ext cx="294609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293" y="2667000"/>
            <a:ext cx="292658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2648" y="1981200"/>
            <a:ext cx="2935476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2097" y="2667000"/>
            <a:ext cx="2946027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1981200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2845" y="2667000"/>
            <a:ext cx="2931349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7787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199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293" y="4250949"/>
            <a:ext cx="2939284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293" y="2209800"/>
            <a:ext cx="2939284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293" y="4827212"/>
            <a:ext cx="2939284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8363" y="4250949"/>
            <a:ext cx="2929762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8362" y="2209800"/>
            <a:ext cx="292976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7009" y="4827211"/>
            <a:ext cx="293364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2845" y="4250949"/>
            <a:ext cx="2931349" cy="576262"/>
          </a:xfrm>
        </p:spPr>
        <p:txBody>
          <a:bodyPr anchor="b">
            <a:noAutofit/>
          </a:bodyPr>
          <a:lstStyle>
            <a:lvl1pPr marL="0" indent="0">
              <a:buNone/>
              <a:defRPr sz="2399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063" indent="0">
              <a:buNone/>
              <a:defRPr sz="1999" b="1"/>
            </a:lvl2pPr>
            <a:lvl3pPr marL="914126" indent="0">
              <a:buNone/>
              <a:defRPr sz="1799" b="1"/>
            </a:lvl3pPr>
            <a:lvl4pPr marL="1371189" indent="0">
              <a:buNone/>
              <a:defRPr sz="1600" b="1"/>
            </a:lvl4pPr>
            <a:lvl5pPr marL="1828251" indent="0">
              <a:buNone/>
              <a:defRPr sz="1600" b="1"/>
            </a:lvl5pPr>
            <a:lvl6pPr marL="2285314" indent="0">
              <a:buNone/>
              <a:defRPr sz="1600" b="1"/>
            </a:lvl6pPr>
            <a:lvl7pPr marL="2742377" indent="0">
              <a:buNone/>
              <a:defRPr sz="1600" b="1"/>
            </a:lvl7pPr>
            <a:lvl8pPr marL="3199440" indent="0">
              <a:buNone/>
              <a:defRPr sz="1600" b="1"/>
            </a:lvl8pPr>
            <a:lvl9pPr marL="3656503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2844" y="2209800"/>
            <a:ext cx="2931349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063" indent="0">
              <a:buNone/>
              <a:defRPr sz="1600"/>
            </a:lvl2pPr>
            <a:lvl3pPr marL="914126" indent="0">
              <a:buNone/>
              <a:defRPr sz="1600"/>
            </a:lvl3pPr>
            <a:lvl4pPr marL="1371189" indent="0">
              <a:buNone/>
              <a:defRPr sz="1600"/>
            </a:lvl4pPr>
            <a:lvl5pPr marL="1828251" indent="0">
              <a:buNone/>
              <a:defRPr sz="1600"/>
            </a:lvl5pPr>
            <a:lvl6pPr marL="2285314" indent="0">
              <a:buNone/>
              <a:defRPr sz="1600"/>
            </a:lvl6pPr>
            <a:lvl7pPr marL="2742377" indent="0">
              <a:buNone/>
              <a:defRPr sz="1600"/>
            </a:lvl7pPr>
            <a:lvl8pPr marL="3199440" indent="0">
              <a:buNone/>
              <a:defRPr sz="1600"/>
            </a:lvl8pPr>
            <a:lvl9pPr marL="3656503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2720" y="4827209"/>
            <a:ext cx="293523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200"/>
            </a:lvl2pPr>
            <a:lvl3pPr marL="914126" indent="0">
              <a:buNone/>
              <a:defRPr sz="1000"/>
            </a:lvl3pPr>
            <a:lvl4pPr marL="1371189" indent="0">
              <a:buNone/>
              <a:defRPr sz="900"/>
            </a:lvl4pPr>
            <a:lvl5pPr marL="1828251" indent="0">
              <a:buNone/>
              <a:defRPr sz="900"/>
            </a:lvl5pPr>
            <a:lvl6pPr marL="2285314" indent="0">
              <a:buNone/>
              <a:defRPr sz="900"/>
            </a:lvl6pPr>
            <a:lvl7pPr marL="2742377" indent="0">
              <a:buNone/>
              <a:defRPr sz="900"/>
            </a:lvl7pPr>
            <a:lvl8pPr marL="3199440" indent="0">
              <a:buNone/>
              <a:defRPr sz="900"/>
            </a:lvl8pPr>
            <a:lvl9pPr marL="3656503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517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0414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71352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2810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2050" y="430214"/>
            <a:ext cx="1752145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294" y="887414"/>
            <a:ext cx="7421216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872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6"/>
            <a:ext cx="4035961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8"/>
            <a:ext cx="1522016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6770" y="1676400"/>
            <a:ext cx="2818666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7330" y="1"/>
            <a:ext cx="1602969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3637" y="6096000"/>
            <a:ext cx="993475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5094" y="0"/>
            <a:ext cx="685621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5943" y="452718"/>
            <a:ext cx="9402274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025" y="2052919"/>
            <a:ext cx="894421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2866" y="1790741"/>
            <a:ext cx="990599" cy="30472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48740" y="3225337"/>
            <a:ext cx="3859795" cy="30472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49844" y="295730"/>
            <a:ext cx="837981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799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4839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063" rtl="0" eaLnBrk="1" latinLnBrk="0" hangingPunct="1">
        <a:spcBef>
          <a:spcPct val="0"/>
        </a:spcBef>
        <a:buNone/>
        <a:defRPr sz="4199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797" indent="-342797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99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727" indent="-285664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799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2657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599720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6783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524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0908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7971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5034" indent="-228531" algn="l" defTabSz="457063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06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126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189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251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5314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2377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199440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6503" algn="l" defTabSz="457063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4945" y="548640"/>
            <a:ext cx="959450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dirty="0"/>
          </a:p>
          <a:p>
            <a:pPr algn="ctr"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Off-Grid Solar Inverter Integrating Battery–Supercapacitor Hybrid Storage with MPPT and Smart Fault Management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71C3EF1-F989-547F-1513-933E7DD189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5023461"/>
              </p:ext>
            </p:extLst>
          </p:nvPr>
        </p:nvGraphicFramePr>
        <p:xfrm>
          <a:off x="1465832" y="3377989"/>
          <a:ext cx="8125884" cy="18542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062942">
                  <a:extLst>
                    <a:ext uri="{9D8B030D-6E8A-4147-A177-3AD203B41FA5}">
                      <a16:colId xmlns:a16="http://schemas.microsoft.com/office/drawing/2014/main" val="3637410650"/>
                    </a:ext>
                  </a:extLst>
                </a:gridCol>
                <a:gridCol w="4062942">
                  <a:extLst>
                    <a:ext uri="{9D8B030D-6E8A-4147-A177-3AD203B41FA5}">
                      <a16:colId xmlns:a16="http://schemas.microsoft.com/office/drawing/2014/main" val="13634598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Group Members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Registration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949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DANIYAL BASHARAT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22JZELE0467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2671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MALIK AWAIS BASHIR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22JZELE0474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45642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NANGYAL AHMED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22JZELE0501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74338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SUPERVISOR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solidFill>
                            <a:schemeClr val="bg1"/>
                          </a:solidFill>
                        </a:rPr>
                        <a:t>Dr. ABID SIDDIQUE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72082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268983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E47DDB27-2EC6-92E4-1A21-5ACF1C73F0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35782" y="1992236"/>
            <a:ext cx="7411451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Increasing global demand for clean and independent off-grid energy systems.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Conventional battery-based inverters face limited lifespan and weak transient response.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Integrating supercapacitors boosts overall energy efficiency and dynamic performance.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MPPT technology ensures continuous extraction of maximum solar power.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Intelligent cooling and fault-protection systems improve durability and reliability.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04442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515600" cy="2857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7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Affordable &amp; Clean Energy: Supports off-grid renewable solutions.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9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Industry, Innovation &amp; Infrastructure: Promotes hybrid inverter design.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SDG 11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Cities &amp; Communities: Enables rural electrification.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98506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795436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Off-grid systems face unstable energy supply.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Battery-only systems degrade quickly under load variation.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Cooling and fault detection are often inadequate.</a:t>
            </a:r>
          </a:p>
          <a:p>
            <a:pPr marL="342900" indent="-342900">
              <a:spcAft>
                <a:spcPts val="1000"/>
              </a:spcAft>
              <a:buFont typeface="Wingdings" panose="05000000000000000000" pitchFamily="2" charset="2"/>
              <a:buChar char="Ø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for a smart hybrid inverter integrating Battery–Supercapacitor storage with MPPT and protection.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4262705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 and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6766560" cy="32265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 smart off-grid hybrid inverter with Battery–Supercapacitor storage, MPPT, and intelligent cooling.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Objectives: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and simulate hybrid storage system.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MPPT for maximum power extraction.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 smart cooling and fault management.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performance under varying loads and conditions.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77988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515600" cy="1113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System: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Combines all 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hree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—hybrid storage, MPPT, and smart cooling.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E192312-12F4-A998-A206-52D950BE9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2408410"/>
              </p:ext>
            </p:extLst>
          </p:nvPr>
        </p:nvGraphicFramePr>
        <p:xfrm>
          <a:off x="1299950" y="3369012"/>
          <a:ext cx="8257935" cy="1653574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752645">
                  <a:extLst>
                    <a:ext uri="{9D8B030D-6E8A-4147-A177-3AD203B41FA5}">
                      <a16:colId xmlns:a16="http://schemas.microsoft.com/office/drawing/2014/main" val="1430551714"/>
                    </a:ext>
                  </a:extLst>
                </a:gridCol>
                <a:gridCol w="2752645">
                  <a:extLst>
                    <a:ext uri="{9D8B030D-6E8A-4147-A177-3AD203B41FA5}">
                      <a16:colId xmlns:a16="http://schemas.microsoft.com/office/drawing/2014/main" val="2158357422"/>
                    </a:ext>
                  </a:extLst>
                </a:gridCol>
                <a:gridCol w="2752645">
                  <a:extLst>
                    <a:ext uri="{9D8B030D-6E8A-4147-A177-3AD203B41FA5}">
                      <a16:colId xmlns:a16="http://schemas.microsoft.com/office/drawing/2014/main" val="3505413826"/>
                    </a:ext>
                  </a:extLst>
                </a:gridCol>
              </a:tblGrid>
              <a:tr h="506874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Authors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Design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Weaknesses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620434"/>
                  </a:ext>
                </a:extLst>
              </a:tr>
              <a:tr h="50687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Zhang et al. (2023)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Hybrid battery–SC system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MPPT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38458088"/>
                  </a:ext>
                </a:extLst>
              </a:tr>
              <a:tr h="506874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Khan et al. (2022)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MPPT solar inverter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</a:rPr>
                        <a:t>SC integration</a:t>
                      </a:r>
                      <a:endParaRPr lang="en-US" dirty="0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997478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472885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515600" cy="37292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Components: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Solar PV panel input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MPPT boost converter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Battery–Supercapacitor hybrid storage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DC–DC bidirectional converter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DC–AC inverter for load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Microcontroller-based control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cooling and fault detection circuits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17266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Diagram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871BCC-3EE0-7407-12B8-53EEA4D01C1F}"/>
              </a:ext>
            </a:extLst>
          </p:cNvPr>
          <p:cNvSpPr txBox="1"/>
          <p:nvPr/>
        </p:nvSpPr>
        <p:spPr>
          <a:xfrm>
            <a:off x="1342723" y="2257743"/>
            <a:ext cx="195025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Solar PV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588280-3792-39FE-86B0-183CC95E854B}"/>
              </a:ext>
            </a:extLst>
          </p:cNvPr>
          <p:cNvSpPr txBox="1"/>
          <p:nvPr/>
        </p:nvSpPr>
        <p:spPr>
          <a:xfrm>
            <a:off x="5047311" y="2119244"/>
            <a:ext cx="1950255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MPPT Boost Converter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E7C231-29CD-3A02-0400-4A694EC39E80}"/>
              </a:ext>
            </a:extLst>
          </p:cNvPr>
          <p:cNvSpPr txBox="1"/>
          <p:nvPr/>
        </p:nvSpPr>
        <p:spPr>
          <a:xfrm>
            <a:off x="9101167" y="1980744"/>
            <a:ext cx="1950255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Storage (Battery + Supercapacitor)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8F6E58-7B80-D3AC-862D-BB07EDBD8E12}"/>
              </a:ext>
            </a:extLst>
          </p:cNvPr>
          <p:cNvSpPr txBox="1"/>
          <p:nvPr/>
        </p:nvSpPr>
        <p:spPr>
          <a:xfrm>
            <a:off x="5047310" y="3634517"/>
            <a:ext cx="195025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DC–AC Inverter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0380DB-7052-CEB9-BB8A-11E4879BC96F}"/>
              </a:ext>
            </a:extLst>
          </p:cNvPr>
          <p:cNvSpPr txBox="1"/>
          <p:nvPr/>
        </p:nvSpPr>
        <p:spPr>
          <a:xfrm>
            <a:off x="9101167" y="3634517"/>
            <a:ext cx="1950255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Off-grid Load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EB911D-2143-6FAB-7E21-9F0E56946BA5}"/>
              </a:ext>
            </a:extLst>
          </p:cNvPr>
          <p:cNvSpPr txBox="1"/>
          <p:nvPr/>
        </p:nvSpPr>
        <p:spPr>
          <a:xfrm>
            <a:off x="4587256" y="5050719"/>
            <a:ext cx="3014312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Cooling + Fault Detection (Sensors + Controller)</a:t>
            </a:r>
            <a:endParaRPr lang="en-US" dirty="0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D341BCB-2AD0-6B83-73CA-547EEFA7AAC4}"/>
              </a:ext>
            </a:extLst>
          </p:cNvPr>
          <p:cNvSpPr/>
          <p:nvPr/>
        </p:nvSpPr>
        <p:spPr>
          <a:xfrm>
            <a:off x="3796138" y="2344368"/>
            <a:ext cx="548640" cy="22557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5A756A20-E916-1269-F413-17E82F261637}"/>
              </a:ext>
            </a:extLst>
          </p:cNvPr>
          <p:cNvSpPr/>
          <p:nvPr/>
        </p:nvSpPr>
        <p:spPr>
          <a:xfrm>
            <a:off x="7775046" y="2329621"/>
            <a:ext cx="548640" cy="22557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6EB12F7D-D1B9-4EE0-C1D0-D2B28E7B2484}"/>
              </a:ext>
            </a:extLst>
          </p:cNvPr>
          <p:cNvSpPr/>
          <p:nvPr/>
        </p:nvSpPr>
        <p:spPr>
          <a:xfrm>
            <a:off x="7775046" y="3706395"/>
            <a:ext cx="548640" cy="225575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Arrow: Down 14">
            <a:extLst>
              <a:ext uri="{FF2B5EF4-FFF2-40B4-BE49-F238E27FC236}">
                <a16:creationId xmlns:a16="http://schemas.microsoft.com/office/drawing/2014/main" id="{141EB45E-0B87-49BF-1E6E-BBB8610E7F76}"/>
              </a:ext>
            </a:extLst>
          </p:cNvPr>
          <p:cNvSpPr/>
          <p:nvPr/>
        </p:nvSpPr>
        <p:spPr>
          <a:xfrm>
            <a:off x="5963660" y="2960350"/>
            <a:ext cx="261503" cy="526265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Arrow: Up 15">
            <a:extLst>
              <a:ext uri="{FF2B5EF4-FFF2-40B4-BE49-F238E27FC236}">
                <a16:creationId xmlns:a16="http://schemas.microsoft.com/office/drawing/2014/main" id="{193B7A7C-3C6E-844C-A299-1C53137C698E}"/>
              </a:ext>
            </a:extLst>
          </p:cNvPr>
          <p:cNvSpPr/>
          <p:nvPr/>
        </p:nvSpPr>
        <p:spPr>
          <a:xfrm>
            <a:off x="6022437" y="4248151"/>
            <a:ext cx="261503" cy="558266"/>
          </a:xfrm>
          <a:prstGeom prst="up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2608599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Chart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D21DC7A-2A75-D789-43BA-08A17C420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350937"/>
              </p:ext>
            </p:extLst>
          </p:nvPr>
        </p:nvGraphicFramePr>
        <p:xfrm>
          <a:off x="1299951" y="2430801"/>
          <a:ext cx="8488942" cy="236258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4244471">
                  <a:extLst>
                    <a:ext uri="{9D8B030D-6E8A-4147-A177-3AD203B41FA5}">
                      <a16:colId xmlns:a16="http://schemas.microsoft.com/office/drawing/2014/main" val="3064880291"/>
                    </a:ext>
                  </a:extLst>
                </a:gridCol>
                <a:gridCol w="4244471">
                  <a:extLst>
                    <a:ext uri="{9D8B030D-6E8A-4147-A177-3AD203B41FA5}">
                      <a16:colId xmlns:a16="http://schemas.microsoft.com/office/drawing/2014/main" val="3131968401"/>
                    </a:ext>
                  </a:extLst>
                </a:gridCol>
              </a:tblGrid>
              <a:tr h="472516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October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Literature Review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3912704"/>
                  </a:ext>
                </a:extLst>
              </a:tr>
              <a:tr h="47251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November - December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Circuit Design &amp; Simulation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373795"/>
                  </a:ext>
                </a:extLst>
              </a:tr>
              <a:tr h="47251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January – February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Implementation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144984"/>
                  </a:ext>
                </a:extLst>
              </a:tr>
              <a:tr h="47251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March – April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Testing &amp;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878294"/>
                  </a:ext>
                </a:extLst>
              </a:tr>
              <a:tr h="472516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May - June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Final Report &amp; Presentation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556553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3643241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Distribution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AC0EDC6-DB71-36D7-418E-6CE61E0830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754266"/>
              </p:ext>
            </p:extLst>
          </p:nvPr>
        </p:nvGraphicFramePr>
        <p:xfrm>
          <a:off x="1338450" y="2196966"/>
          <a:ext cx="8825827" cy="2740795"/>
        </p:xfrm>
        <a:graphic>
          <a:graphicData uri="http://schemas.openxmlformats.org/drawingml/2006/table">
            <a:tbl>
              <a:tblPr firstRow="1" bandRow="1">
                <a:tableStyleId>{D27102A9-8310-4765-A935-A1911B00CA55}</a:tableStyleId>
              </a:tblPr>
              <a:tblGrid>
                <a:gridCol w="3302991">
                  <a:extLst>
                    <a:ext uri="{9D8B030D-6E8A-4147-A177-3AD203B41FA5}">
                      <a16:colId xmlns:a16="http://schemas.microsoft.com/office/drawing/2014/main" val="269116934"/>
                    </a:ext>
                  </a:extLst>
                </a:gridCol>
                <a:gridCol w="5522836">
                  <a:extLst>
                    <a:ext uri="{9D8B030D-6E8A-4147-A177-3AD203B41FA5}">
                      <a16:colId xmlns:a16="http://schemas.microsoft.com/office/drawing/2014/main" val="719579361"/>
                    </a:ext>
                  </a:extLst>
                </a:gridCol>
              </a:tblGrid>
              <a:tr h="548159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Responsibility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33873794"/>
                  </a:ext>
                </a:extLst>
              </a:tr>
              <a:tr h="54815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DANIYAL BASHARAT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MPPT Algorithm and Simulation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30262820"/>
                  </a:ext>
                </a:extLst>
              </a:tr>
              <a:tr h="54815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MALIK AWAIS BASHIR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Supercapacitor Integration and Fault Protection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32146196"/>
                  </a:ext>
                </a:extLst>
              </a:tr>
              <a:tr h="54815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NANGYAL AHMED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Hardware Design and Testing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64954332"/>
                  </a:ext>
                </a:extLst>
              </a:tr>
              <a:tr h="548159">
                <a:tc>
                  <a:txBody>
                    <a:bodyPr/>
                    <a:lstStyle/>
                    <a:p>
                      <a:r>
                        <a:rPr lang="en-US" b="0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SUPERVISOR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Guidance and Evaluation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600373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5857373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Utilization of Project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51560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Off-grid home power systems.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Telecom and emergency backup applications.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Improved reliability and lifespan of batteries.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renewable energy for rural areas.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2330766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8148" y="1588169"/>
            <a:ext cx="8922619" cy="2292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Zhang Y. et al., 'Hybrid Energy Storage for Renewable Power,' IEEE TPE, 2023.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Khan A. et al., 'MPPT-based Off-Grid Solar Inverter,' Renewable Energy J., 2022.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Liu M. et al., 'Energy Management of Hybrid Systems,' Applied Energy, 2021.</a:t>
            </a:r>
          </a:p>
          <a:p>
            <a:pPr>
              <a:spcAft>
                <a:spcPts val="1000"/>
              </a:spcAft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Alam S. et al., 'Smart Cooling &amp; Fault Management in Inverters,' IEEE Access, 2024.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48640"/>
            <a:ext cx="2390398" cy="92333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defRPr sz="3600" b="1">
                <a:solidFill>
                  <a:srgbClr val="003366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515600" cy="1985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A complete off-grid hybrid inverter system was developed.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Integrates MPPT, hybrid storage, cooling, and fault protection.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Enhances performance, efficiency, and sustainability.</a:t>
            </a:r>
          </a:p>
          <a:p>
            <a:pPr marL="342900" indent="-342900">
              <a:spcAft>
                <a:spcPts val="1000"/>
              </a:spcAft>
              <a:buFont typeface="Arial" panose="020B0604020202020204" pitchFamily="34" charset="0"/>
              <a:buChar char="•"/>
              <a:defRPr sz="2000">
                <a:solidFill>
                  <a:srgbClr val="000000"/>
                </a:solidFill>
              </a:defRPr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SDGs through renewable innovation.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58</TotalTime>
  <Words>535</Words>
  <Application>Microsoft Office PowerPoint</Application>
  <PresentationFormat>Custom</PresentationFormat>
  <Paragraphs>123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Calibri</vt:lpstr>
      <vt:lpstr>Century Gothic</vt:lpstr>
      <vt:lpstr>Times New Roman</vt:lpstr>
      <vt:lpstr>Wingdings</vt:lpstr>
      <vt:lpstr>Wingdings 3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Malik Awais Bashir</cp:lastModifiedBy>
  <cp:revision>4</cp:revision>
  <dcterms:created xsi:type="dcterms:W3CDTF">2013-01-27T09:14:16Z</dcterms:created>
  <dcterms:modified xsi:type="dcterms:W3CDTF">2025-10-20T19:43:35Z</dcterms:modified>
  <cp:category/>
</cp:coreProperties>
</file>